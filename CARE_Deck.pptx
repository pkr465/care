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3461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122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554480"/>
            <a:ext cx="9144000" cy="0"/>
          </a:xfrm>
          <a:prstGeom prst="line">
            <a:avLst/>
          </a:prstGeom>
          <a:noFill/>
          <a:ln w="6350">
            <a:solidFill>
              <a:srgbClr val="122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2377440"/>
            <a:ext cx="9144000" cy="0"/>
          </a:xfrm>
          <a:prstGeom prst="line">
            <a:avLst/>
          </a:prstGeom>
          <a:noFill/>
          <a:ln w="6350">
            <a:solidFill>
              <a:srgbClr val="122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22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122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6350">
            <a:solidFill>
              <a:srgbClr val="122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kern="0" spc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CARE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Analysis &amp; Repair Engine for HDL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Static Analysis &amp; Design Review for Verilog/SystemVerilog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2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461772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  |  Version 1.0  |  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Hardware Design Review is Broken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914400" cy="914400"/>
          </a:xfrm>
          <a:prstGeom prst="ellipse">
            <a:avLst/>
          </a:prstGeom>
          <a:solidFill>
            <a:srgbClr val="EF4444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72%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920240" y="1600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 RTL bugs escape to synthesis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920240" y="199339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code review catches only a fraction of CDC, latch inference, and timing issues before costly synthesis runs.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651760"/>
            <a:ext cx="914400" cy="914400"/>
          </a:xfrm>
          <a:prstGeom prst="ellipse">
            <a:avLst/>
          </a:prstGeom>
          <a:solidFill>
            <a:srgbClr val="EF4444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3-5x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920240" y="2697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longer verification cycles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20240" y="309067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automated analysis, design teams spend weeks on issues that static checks would catch in minutes.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749040"/>
            <a:ext cx="914400" cy="914400"/>
          </a:xfrm>
          <a:prstGeom prst="ellipse">
            <a:avLst/>
          </a:prstGeom>
          <a:solidFill>
            <a:srgbClr val="EF4444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38404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920240" y="3794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 designer time on repetitive checks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920240" y="418795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engineers waste valuable time on coding style, sensitivity lists, and reset pattern verification.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CARE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Multi-Agent HDL Analysis Framework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combines regex-based static analyzers, EDA tool integration, and LLM-powered design review to deliver comprehensive Verilog/SystemVerilog code health scoring, synthesis safety detection, and automated HDL repair.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3657600" cy="1097280"/>
          </a:xfrm>
          <a:prstGeom prst="rect">
            <a:avLst/>
          </a:prstGeom>
          <a:solidFill>
            <a:srgbClr val="122B4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2377440"/>
            <a:ext cx="54864" cy="109728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2468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 Specialized Analyzers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834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Quality, complexity, CDC, synthesis safety, signal integrity, verification coverage, and more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2377440"/>
            <a:ext cx="3657600" cy="1097280"/>
          </a:xfrm>
          <a:prstGeom prst="rect">
            <a:avLst/>
          </a:prstGeom>
          <a:solidFill>
            <a:srgbClr val="122B4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2377440"/>
            <a:ext cx="54864" cy="109728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83480" y="2468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Deep Analysis Adapters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2834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Verilator lint, Verible parsing, hierarchy analysis, unused module detection, module metrics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657600"/>
            <a:ext cx="3657600" cy="1097280"/>
          </a:xfrm>
          <a:prstGeom prst="rect">
            <a:avLst/>
          </a:prstGeom>
          <a:solidFill>
            <a:srgbClr val="122B4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1520" y="3657600"/>
            <a:ext cx="54864" cy="10972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0120" y="3749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 Design Review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41148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semantic analysis with Claude, GPT, or local models — HDL-aware chunking &amp; prompts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657600"/>
            <a:ext cx="3657600" cy="1097280"/>
          </a:xfrm>
          <a:prstGeom prst="rect">
            <a:avLst/>
          </a:prstGeom>
          <a:solidFill>
            <a:srgbClr val="122B4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54880" y="3657600"/>
            <a:ext cx="54864" cy="10972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83480" y="3749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Human-in-the-Loop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83480" y="41148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feedback store, constraint-driven rules, RAG-augmented review decisions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Multi-Agent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89204" y="1554480"/>
            <a:ext cx="1325880" cy="1188720"/>
          </a:xfrm>
          <a:prstGeom prst="rect">
            <a:avLst/>
          </a:prstGeom>
          <a:solidFill>
            <a:srgbClr val="0EA5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89204" y="16916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RTL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Discovery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9204" y="23317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.v / .sv / .svh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33372" y="2148840"/>
            <a:ext cx="34747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199132" y="1554480"/>
            <a:ext cx="1325880" cy="1188720"/>
          </a:xfrm>
          <a:prstGeom prst="rect">
            <a:avLst/>
          </a:prstGeom>
          <a:solidFill>
            <a:srgbClr val="8B5CF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199132" y="16916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Static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99132" y="23317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9 analyzers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43300" y="2148840"/>
            <a:ext cx="34747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909060" y="1554480"/>
            <a:ext cx="1325880" cy="1188720"/>
          </a:xfrm>
          <a:prstGeom prst="rect">
            <a:avLst/>
          </a:prstGeom>
          <a:solidFill>
            <a:srgbClr val="00D4A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909060" y="16916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Deep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Adapters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09060" y="23317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Verilator / Verible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53228" y="2148840"/>
            <a:ext cx="34747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618988" y="1554480"/>
            <a:ext cx="1325880" cy="1188720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18988" y="16916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Review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18988" y="23317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63156" y="2148840"/>
            <a:ext cx="34747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28916" y="1554480"/>
            <a:ext cx="1325880" cy="1188720"/>
          </a:xfrm>
          <a:prstGeom prst="rect">
            <a:avLst/>
          </a:prstGeom>
          <a:solidFill>
            <a:srgbClr val="10B98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28916" y="16916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Report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Repair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28916" y="23317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Excel / JSON / Fix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Supporting Infrastructure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1520" y="3566160"/>
            <a:ext cx="1828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31520" y="3566160"/>
            <a:ext cx="1828800" cy="457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8680" y="3703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PostgreSQL + pgvector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" y="40690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for RAG chat &amp; HITL feedback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0" y="3566160"/>
            <a:ext cx="1828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743200" y="3566160"/>
            <a:ext cx="1828800" cy="457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880360" y="3703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Constraint Engine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880360" y="40690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rules override LLM behavior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566160"/>
            <a:ext cx="1828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54880" y="3566160"/>
            <a:ext cx="1828800" cy="457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92040" y="3703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Streamlit Dashboard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92040" y="40690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7-tab UI: Analyze, Review, Fix, Patch, Chat, QA, Settings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766560" y="3566160"/>
            <a:ext cx="1828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766560" y="3566160"/>
            <a:ext cx="1828800" cy="457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903720" y="3703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Telemetry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03720" y="40690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OpenTelemetry-compatible silent tracing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ENGINE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 Purpose-Built HDL Analyzers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606040" cy="1005840"/>
          </a:xfrm>
          <a:prstGeom prst="rect">
            <a:avLst/>
          </a:prstGeom>
          <a:solidFill>
            <a:srgbClr val="122B4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444752"/>
            <a:ext cx="182880" cy="182880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1371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Blocking/non-blocking, latch inference, implicit nets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280160"/>
            <a:ext cx="2606040" cy="1005840"/>
          </a:xfrm>
          <a:prstGeom prst="rect">
            <a:avLst/>
          </a:prstGeom>
          <a:solidFill>
            <a:srgbClr val="122B4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520440" y="1444752"/>
            <a:ext cx="182880" cy="18288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94760" y="1371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Complexity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20440" y="1783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block CC, nesting depth, module LOC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280160"/>
            <a:ext cx="2606040" cy="1005840"/>
          </a:xfrm>
          <a:prstGeom prst="rect">
            <a:avLst/>
          </a:prstGeom>
          <a:solidFill>
            <a:srgbClr val="122B4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55080" y="1444752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29400" y="1371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Synthesis Safety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1783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Combinational loops, CDC, metastability, X-prop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468880"/>
            <a:ext cx="2606040" cy="1005840"/>
          </a:xfrm>
          <a:prstGeom prst="rect">
            <a:avLst/>
          </a:prstGeom>
          <a:solidFill>
            <a:srgbClr val="122B4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5800" y="2633472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60120" y="2560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Documentation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29718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headers, port docs, clock domain annotations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83280" y="2468880"/>
            <a:ext cx="2606040" cy="1005840"/>
          </a:xfrm>
          <a:prstGeom prst="rect">
            <a:avLst/>
          </a:prstGeom>
          <a:solidFill>
            <a:srgbClr val="122B4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520440" y="2633472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794760" y="2560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Maintainability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20440" y="29718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HDL Maintainability Index, naming, style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2468880"/>
            <a:ext cx="2606040" cy="1005840"/>
          </a:xfrm>
          <a:prstGeom prst="rect">
            <a:avLst/>
          </a:prstGeom>
          <a:solidFill>
            <a:srgbClr val="122B4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355080" y="2633472"/>
            <a:ext cx="182880" cy="18288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629400" y="2560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55080" y="29718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UVM, SVA, Cocotb, covergroup detection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3657600"/>
            <a:ext cx="2606040" cy="1005840"/>
          </a:xfrm>
          <a:prstGeom prst="rect">
            <a:avLst/>
          </a:prstGeom>
          <a:solidFill>
            <a:srgbClr val="122B4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85800" y="3822192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6012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CDC Analysis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" y="4160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domain crossing, synchronizer validation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83280" y="3657600"/>
            <a:ext cx="2606040" cy="1005840"/>
          </a:xfrm>
          <a:prstGeom prst="rect">
            <a:avLst/>
          </a:prstGeom>
          <a:solidFill>
            <a:srgbClr val="122B4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520440" y="3822192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79476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Uninitialized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520440" y="4160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Undriven signals, missing resets, X/Z propagation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17920" y="3657600"/>
            <a:ext cx="2606040" cy="1005840"/>
          </a:xfrm>
          <a:prstGeom prst="rect">
            <a:avLst/>
          </a:prstGeom>
          <a:solidFill>
            <a:srgbClr val="122B4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355080" y="3822192"/>
            <a:ext cx="182880" cy="18288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62940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Signal Integrity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355080" y="4160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Multi-driver, width mismatch, signed/unsigned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8-Dimensional Design Health Score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99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Risk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423160" y="1417320"/>
            <a:ext cx="2560320" cy="25603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74920" y="13990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7647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Score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1783080"/>
            <a:ext cx="2048256" cy="25603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62856" y="17647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1305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23160" y="2148840"/>
            <a:ext cx="1536192" cy="2560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050792" y="21305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4963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23160" y="2514600"/>
            <a:ext cx="1536192" cy="25603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050792" y="24963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8620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23160" y="2880360"/>
            <a:ext cx="1024128" cy="25603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538728" y="28620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2278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23160" y="3246120"/>
            <a:ext cx="512064" cy="256032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026664" y="32278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3593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23160" y="3611880"/>
            <a:ext cx="512064" cy="2560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026664" y="35935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3959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23160" y="3977640"/>
            <a:ext cx="512064" cy="25603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026664" y="39593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20640" y="1783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Quality Gates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120640" y="2240280"/>
            <a:ext cx="35661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120640" y="2240280"/>
            <a:ext cx="54864" cy="6400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303520" y="2286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Synthesis Risk &lt; 50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0" y="2560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capped at 45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120640" y="3017520"/>
            <a:ext cx="35661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120640" y="3017520"/>
            <a:ext cx="54864" cy="6400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303520" y="3063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Lint Score &lt; 40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03520" y="3337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capped at 40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120640" y="3794760"/>
            <a:ext cx="35661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120640" y="3794760"/>
            <a:ext cx="54864" cy="6400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303520" y="3840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Quality &lt; 40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303520" y="4114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capped at 50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3152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Grade Scale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2560320" y="434340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560320" y="4370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2423160" y="477316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90-100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840480" y="4343400"/>
            <a:ext cx="411480" cy="41148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840480" y="4370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3703320" y="477316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80-89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120640" y="434340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120640" y="4370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983480" y="477316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70-79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400800" y="434340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400800" y="4370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263640" y="477316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60-69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680960" y="4343400"/>
            <a:ext cx="411480" cy="41148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680960" y="4370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543800" y="477316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0-59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 Design Review Engine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HDL-Aware Chunking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7556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Module-boundary-aware splitting ensures always blocks and module instantiations are never split mid-body. 12K char chunks with 25-line overlap.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377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Constraint Injection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262432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write markdown rules that override LLM behavior. Global rules + per-file design constraints eliminate false positives deterministically.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24612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246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 Builder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349300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injects `include definitions — parameters, macros, typedefs, interface declarations — relevant to each code chunk.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411480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4114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Multi-Provider Support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43616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Claude, OpenAI GPT, Azure OpenAI, Google Vertex AI, and QGenie. Switch with one config line.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12080" y="1463040"/>
            <a:ext cx="3474720" cy="3200400"/>
          </a:xfrm>
          <a:prstGeom prst="rect">
            <a:avLst/>
          </a:prstGeom>
          <a:solidFill>
            <a:srgbClr val="122B4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1208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Sample Output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192024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uart_rx.sv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Line: 47</a:t>
            </a:r>
            <a:endParaRPr lang="en-US" sz="900" dirty="0"/>
          </a:p>
          <a:p>
            <a:pPr marL="0" indent="0">
              <a:buNone/>
            </a:pPr>
            <a:r>
              <a:rPr lang="en-US" sz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assign in sequential block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Critical  |  Confidence: High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Synthesis Safety</a:t>
            </a:r>
            <a:endParaRPr lang="en-US" sz="900" dirty="0"/>
          </a:p>
          <a:p>
            <a:pPr marL="0" indent="0">
              <a:buNone/>
            </a:pPr>
            <a:r>
              <a:rPr lang="en-US" sz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always @(posedge clk)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data_out = data_in;  // should be &lt;=</a:t>
            </a:r>
            <a:endParaRPr lang="en-US" sz="900" dirty="0"/>
          </a:p>
          <a:p>
            <a:pPr marL="0" indent="0">
              <a:buNone/>
            </a:pPr>
            <a:r>
              <a:rPr lang="en-US" sz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Code: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data_out &lt;= data_in;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REPAIR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Human-in-the-Loop + Auto Repair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65760" cy="36576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463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Analyze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77440" y="14630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generates findings with severity, confidence, and suggested fixes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1847088"/>
            <a:ext cx="0" cy="256032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2121408"/>
            <a:ext cx="365760" cy="36576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1214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Review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77440" y="21214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accept, reject, modify, or defer each finding in the dashboard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2505456"/>
            <a:ext cx="0" cy="256032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" y="2779776"/>
            <a:ext cx="365760" cy="36576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277977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Learn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377440" y="277977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persist in PostgreSQL. RAG retriever finds similar past decisions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4400" y="3163824"/>
            <a:ext cx="0" cy="256032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520" y="3438144"/>
            <a:ext cx="365760" cy="36576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3438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343814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Constrain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377440" y="343814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write markdown rules that permanently override LLM behavior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4400" y="3822192"/>
            <a:ext cx="0" cy="256032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31520" y="4096512"/>
            <a:ext cx="365760" cy="36576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1520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80160" y="409651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Fix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377440" y="40965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Auto-repair agent generates corrected HDL with auditable diffs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0" y="1463040"/>
            <a:ext cx="365760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212080" y="1554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Benefits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212080" y="196596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rules persist across runs — write once, enforce forever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retriever finds similar past decisions for consistency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Fixer preserves module interfaces and signal contracts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diffs for every auto-repair — nothing changes silently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 continuously reduces false positives over time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Measurable Process Improvements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657600" cy="1463040"/>
          </a:xfrm>
          <a:prstGeom prst="rect">
            <a:avLst/>
          </a:prstGeom>
          <a:solidFill>
            <a:srgbClr val="122B4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6002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2377440" y="16459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RTL bugs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escaping to synthesis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1463040"/>
            <a:ext cx="3657600" cy="1463040"/>
          </a:xfrm>
          <a:prstGeom prst="rect">
            <a:avLst/>
          </a:prstGeom>
          <a:solidFill>
            <a:srgbClr val="122B4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20640" y="16002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5x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492240" y="16459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first-pass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review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154680"/>
            <a:ext cx="3657600" cy="1463040"/>
          </a:xfrm>
          <a:prstGeom prst="rect">
            <a:avLst/>
          </a:prstGeom>
          <a:solidFill>
            <a:srgbClr val="122B4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5840" y="32918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60%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2377440" y="33375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effort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46320" y="3154680"/>
            <a:ext cx="3657600" cy="1463040"/>
          </a:xfrm>
          <a:prstGeom prst="rect">
            <a:avLst/>
          </a:prstGeom>
          <a:solidFill>
            <a:srgbClr val="122B4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20640" y="32918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6492240" y="33375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fixes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full diff trails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 &amp; After CARE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4572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WITHOUT CARE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line-by-line code review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issues found late in synthesis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review quality across reviewers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persistent knowledge from past reviews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not auditable — manual patch diffs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verification iteration cycles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1371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 CARE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96596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9-analyzer + LLM design review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&amp; synthesis issues caught pre-synthesis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reproducible analysis every run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feedback persists &amp; improves over time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diffs for every auto-generated fix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for first-pass analysis, not weeks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122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554480"/>
            <a:ext cx="9144000" cy="0"/>
          </a:xfrm>
          <a:prstGeom prst="line">
            <a:avLst/>
          </a:prstGeom>
          <a:noFill/>
          <a:ln w="6350">
            <a:solidFill>
              <a:srgbClr val="122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2377440"/>
            <a:ext cx="9144000" cy="0"/>
          </a:xfrm>
          <a:prstGeom prst="line">
            <a:avLst/>
          </a:prstGeom>
          <a:noFill/>
          <a:ln w="6350">
            <a:solidFill>
              <a:srgbClr val="122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22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122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6350">
            <a:solidFill>
              <a:srgbClr val="122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Started with CARE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your hardware design review process with AI-powered static analysis, automated repair, and continuous improvement through human feedback.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2560320" cy="1280160"/>
          </a:xfrm>
          <a:prstGeom prst="rect">
            <a:avLst/>
          </a:prstGeom>
          <a:solidFill>
            <a:srgbClr val="122B4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2560320" cy="4572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3063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68680" y="3429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Pilot Project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3749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CARE on one RTL module to see immediate results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66160" y="2926080"/>
            <a:ext cx="2560320" cy="1280160"/>
          </a:xfrm>
          <a:prstGeom prst="rect">
            <a:avLst/>
          </a:prstGeom>
          <a:solidFill>
            <a:srgbClr val="122B4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566160" y="2926080"/>
            <a:ext cx="2560320" cy="4572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703320" y="3063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703320" y="3429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 Constraints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03320" y="3749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your team's design rules in markdown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0" y="2926080"/>
            <a:ext cx="2560320" cy="1280160"/>
          </a:xfrm>
          <a:prstGeom prst="rect">
            <a:avLst/>
          </a:prstGeom>
          <a:solidFill>
            <a:srgbClr val="122B4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00800" y="2926080"/>
            <a:ext cx="2560320" cy="4572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37960" y="3063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537960" y="3429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Integrate CI/CD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37960" y="3749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CARE to your design verification pipeline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2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31520" y="461772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— Codebase Analysis &amp; Repair Engine for HDL  |  care-hdl@team.com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929</Words>
  <Application>Microsoft Macintosh PowerPoint</Application>
  <PresentationFormat>On-screen Show (16:9)</PresentationFormat>
  <Paragraphs>211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 — HDL Analysis &amp; Repair Engine</dc:title>
  <dc:subject>PptxGenJS Presentation</dc:subject>
  <dc:creator>CARE Framework</dc:creator>
  <cp:lastModifiedBy>rudravaram, Pavan k</cp:lastModifiedBy>
  <cp:revision>2</cp:revision>
  <dcterms:created xsi:type="dcterms:W3CDTF">2026-02-27T16:43:01Z</dcterms:created>
  <dcterms:modified xsi:type="dcterms:W3CDTF">2026-02-27T16:58:05Z</dcterms:modified>
</cp:coreProperties>
</file>